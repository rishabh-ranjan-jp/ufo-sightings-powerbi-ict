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4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Sightings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</c:v>
                </c:pt>
                <c:pt idx="1">
                  <c:v>WA</c:v>
                </c:pt>
                <c:pt idx="2">
                  <c:v>FL</c:v>
                </c:pt>
                <c:pt idx="3">
                  <c:v>TX</c:v>
                </c:pt>
                <c:pt idx="4">
                  <c:v>NY</c:v>
                </c:pt>
                <c:pt idx="5">
                  <c:v>IL</c:v>
                </c:pt>
                <c:pt idx="6">
                  <c:v>AZ</c:v>
                </c:pt>
                <c:pt idx="7">
                  <c:v>PA</c:v>
                </c:pt>
                <c:pt idx="8">
                  <c:v>OH</c:v>
                </c:pt>
                <c:pt idx="9">
                  <c:v>MI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8912</c:v>
                </c:pt>
                <c:pt idx="1">
                  <c:v>3966</c:v>
                </c:pt>
                <c:pt idx="2">
                  <c:v>3835</c:v>
                </c:pt>
                <c:pt idx="3">
                  <c:v>3447</c:v>
                </c:pt>
                <c:pt idx="4">
                  <c:v>2980</c:v>
                </c:pt>
                <c:pt idx="5">
                  <c:v>2499</c:v>
                </c:pt>
                <c:pt idx="6">
                  <c:v>2414</c:v>
                </c:pt>
                <c:pt idx="7">
                  <c:v>2366</c:v>
                </c:pt>
                <c:pt idx="8">
                  <c:v>2275</c:v>
                </c:pt>
                <c:pt idx="9">
                  <c:v>1836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0E-4746-AD50-37F71A749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100k</c:v>
                </c:pt>
              </c:strCache>
            </c:strRef>
          </c:tx>
          <c:spPr>
            <a:solidFill>
              <a:srgbClr val="00E5D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9F-4292-BE73-4FF2B5492CEB}"/>
              </c:ext>
            </c:extLst>
          </c:dPt>
          <c:dPt>
            <c:idx val="1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9F-4292-BE73-4FF2B5492CEB}"/>
              </c:ext>
            </c:extLst>
          </c:dPt>
          <c:dPt>
            <c:idx val="2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9F-4292-BE73-4FF2B5492CEB}"/>
              </c:ext>
            </c:extLst>
          </c:dPt>
          <c:dPt>
            <c:idx val="3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9F-4292-BE73-4FF2B5492CEB}"/>
              </c:ext>
            </c:extLst>
          </c:dPt>
          <c:dPt>
            <c:idx val="4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59F-4292-BE73-4FF2B5492CEB}"/>
              </c:ext>
            </c:extLst>
          </c:dPt>
          <c:dPt>
            <c:idx val="5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59F-4292-BE73-4FF2B5492CEB}"/>
              </c:ext>
            </c:extLst>
          </c:dPt>
          <c:dPt>
            <c:idx val="6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59F-4292-BE73-4FF2B5492CEB}"/>
              </c:ext>
            </c:extLst>
          </c:dPt>
          <c:dPt>
            <c:idx val="7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59F-4292-BE73-4FF2B5492CEB}"/>
              </c:ext>
            </c:extLst>
          </c:dPt>
          <c:dPt>
            <c:idx val="8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59F-4292-BE73-4FF2B5492CEB}"/>
              </c:ext>
            </c:extLst>
          </c:dPt>
          <c:dPt>
            <c:idx val="9"/>
            <c:invertIfNegative val="0"/>
            <c:bubble3D val="0"/>
            <c:spPr>
              <a:solidFill>
                <a:srgbClr val="9FB6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59F-4292-BE73-4FF2B5492C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WA</c:v>
                </c:pt>
                <c:pt idx="1">
                  <c:v>AZ</c:v>
                </c:pt>
                <c:pt idx="2">
                  <c:v>CA</c:v>
                </c:pt>
                <c:pt idx="3">
                  <c:v>OH</c:v>
                </c:pt>
                <c:pt idx="4">
                  <c:v>FL</c:v>
                </c:pt>
                <c:pt idx="5">
                  <c:v>IL</c:v>
                </c:pt>
                <c:pt idx="6">
                  <c:v>PA</c:v>
                </c:pt>
                <c:pt idx="7">
                  <c:v>MI</c:v>
                </c:pt>
                <c:pt idx="8">
                  <c:v>NY</c:v>
                </c:pt>
                <c:pt idx="9">
                  <c:v>TX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</c:v>
                </c:pt>
                <c:pt idx="1">
                  <c:v>37.799999999999997</c:v>
                </c:pt>
                <c:pt idx="2">
                  <c:v>23.9</c:v>
                </c:pt>
                <c:pt idx="3">
                  <c:v>19.7</c:v>
                </c:pt>
                <c:pt idx="4">
                  <c:v>20.399999999999999</c:v>
                </c:pt>
                <c:pt idx="5">
                  <c:v>19.5</c:v>
                </c:pt>
                <c:pt idx="6">
                  <c:v>18.600000000000001</c:v>
                </c:pt>
                <c:pt idx="7">
                  <c:v>18.600000000000001</c:v>
                </c:pt>
                <c:pt idx="8">
                  <c:v>15.4</c:v>
                </c:pt>
                <c:pt idx="9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59F-4292-BE73-4FF2B5492C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Sightings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0-1</c:v>
                </c:pt>
                <c:pt idx="1">
                  <c:v>1-2</c:v>
                </c:pt>
                <c:pt idx="2">
                  <c:v>2-3</c:v>
                </c:pt>
                <c:pt idx="3">
                  <c:v>3-5</c:v>
                </c:pt>
                <c:pt idx="4">
                  <c:v>5-10</c:v>
                </c:pt>
                <c:pt idx="5">
                  <c:v>10-15</c:v>
                </c:pt>
                <c:pt idx="6">
                  <c:v>15-20</c:v>
                </c:pt>
                <c:pt idx="7">
                  <c:v>20-30</c:v>
                </c:pt>
                <c:pt idx="8">
                  <c:v>30-45</c:v>
                </c:pt>
                <c:pt idx="9">
                  <c:v>45-60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29453</c:v>
                </c:pt>
                <c:pt idx="1">
                  <c:v>8024</c:v>
                </c:pt>
                <c:pt idx="2">
                  <c:v>5170</c:v>
                </c:pt>
                <c:pt idx="3">
                  <c:v>10785</c:v>
                </c:pt>
                <c:pt idx="4">
                  <c:v>8559</c:v>
                </c:pt>
                <c:pt idx="5">
                  <c:v>4467</c:v>
                </c:pt>
                <c:pt idx="6">
                  <c:v>3177</c:v>
                </c:pt>
                <c:pt idx="7">
                  <c:v>3439</c:v>
                </c:pt>
                <c:pt idx="8">
                  <c:v>1714</c:v>
                </c:pt>
                <c:pt idx="9">
                  <c:v>5544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72-4F44-B1B5-EDBF264BC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5"/>
                    </a:solidFill>
                    <a:latin typeface="Arial"/>
                  </a:rPr>
                  <a:t>Duration (minutes, capped at 60)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5"/>
                    </a:solidFill>
                    <a:latin typeface="Arial"/>
                  </a:rPr>
                  <a:t>Number of sightings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01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164592" cy="164592"/>
          </a:xfrm>
          <a:prstGeom prst="ellipse">
            <a:avLst/>
          </a:prstGeom>
          <a:solidFill>
            <a:srgbClr val="00E5D1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2743200"/>
            <a:ext cx="91440" cy="91440"/>
          </a:xfrm>
          <a:prstGeom prst="ellipse">
            <a:avLst/>
          </a:prstGeom>
          <a:solidFill>
            <a:srgbClr val="00E5D1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029200"/>
            <a:ext cx="128016" cy="128016"/>
          </a:xfrm>
          <a:prstGeom prst="ellipse">
            <a:avLst/>
          </a:prstGeom>
          <a:solidFill>
            <a:srgbClr val="00E5D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91440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1A3B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PRESENTATION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UFO SIGHTINGS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Deep Dive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of 80,332 witness-reported sightings from the National UFO Reporting Center (NUFORC), spanning 1949–2014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943600"/>
            <a:ext cx="10881360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ufo_sightings_scrubbed.csv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raw incoming-tip log, not a vetted sightings 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38100" dir="5400000" algn="bl" rotWithShape="0">
              <a:srgbClr val="1F376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80,332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sighting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38100" dir="5400000" algn="bl" rotWithShape="0">
              <a:srgbClr val="1F376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1949–2014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covered (65 yrs)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38100" dir="5400000" algn="bl" rotWithShape="0">
              <a:srgbClr val="1F376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38100" dir="5400000" algn="bl" rotWithShape="0">
              <a:srgbClr val="1F376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154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composition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3986784"/>
            <a:ext cx="2076420" cy="1828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949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65,114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261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Unlisted / blank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0" y="4315968"/>
            <a:ext cx="307238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3949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9,670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590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26080" y="4645152"/>
            <a:ext cx="94732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94960" y="4590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4590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919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0" y="4974336"/>
            <a:ext cx="61448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94960" y="4919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126480" y="4919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2486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926080" y="5303520"/>
            <a:ext cx="17922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394960" y="5248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26480" y="5248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0.7%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5577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26080" y="5632704"/>
            <a:ext cx="2560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394960" y="5577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126480" y="5577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89520" y="3520440"/>
            <a:ext cx="4114800" cy="2606040"/>
          </a:xfrm>
          <a:prstGeom prst="roundRect">
            <a:avLst>
              <a:gd name="adj" fmla="val 2807"/>
            </a:avLst>
          </a:prstGeom>
          <a:solidFill>
            <a:srgbClr val="0B1F3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8638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note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863840" y="40690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accounts for ~81% of all records, so this deck focuses there for the state-level analysis — but remember: this is a global, self-reported log with no verification step behind any entry.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questions, six evidence-backed answers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UFO shapes are reported most often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97880" y="16916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828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annual sightings have trended since 2000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US states report the most sightings — and why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97880" y="31089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337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264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duration field and analyze its distribution as a histogram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754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663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witness comments for additional, non-obvious insights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45262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754880"/>
            <a:ext cx="502920" cy="502920"/>
          </a:xfrm>
          <a:prstGeom prst="ellipse">
            <a:avLst/>
          </a:prstGeom>
          <a:solidFill>
            <a:srgbClr val="00E5D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264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4663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everything into a clear, presentable analytics narrative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“Light” dominates reported UFO shapes</a:t>
            </a:r>
            <a:endParaRPr lang="en-US" sz="2500" dirty="0"/>
          </a:p>
        </p:txBody>
      </p:sp>
      <p:pic>
        <p:nvPicPr>
          <p:cNvPr id="5" name="Image 0" descr="assets/sha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675120" cy="3310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8280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Sightings by Reported Shape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06640" y="1463040"/>
            <a:ext cx="4297680" cy="3657600"/>
          </a:xfrm>
          <a:prstGeom prst="roundRect">
            <a:avLst>
              <a:gd name="adj" fmla="val 2000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makes sense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10312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leads with 16,565 reports (~21% of all sightings) — nearly double the runner-up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(7,865) and Circle (7,608) follow, each under half of Light's total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“Light” needs the least detail to report — any unresolved point of brightness qualifies, making it a catch-all for ambiguous sightings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shapes (disk, cigar, triangle) require a longer or closer look to identify confidently — naturally rarer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sightings rose 2.7x from 2000 to 2012</a:t>
            </a:r>
            <a:endParaRPr lang="en-US" sz="2500" dirty="0"/>
          </a:p>
        </p:txBody>
      </p:sp>
      <p:pic>
        <p:nvPicPr>
          <p:cNvPr id="5" name="Image 0" descr="asset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675120" cy="3310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8280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Trend since 2000 (US)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06640" y="1463040"/>
            <a:ext cx="4297680" cy="3657600"/>
          </a:xfrm>
          <a:prstGeom prst="roundRect">
            <a:avLst>
              <a:gd name="adj" fmla="val 2000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makes sense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10312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reports climb from 2,772 (2000) to a peak of 7,356 (2012) — 2.7x growth, then decline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isn't linear — it accelerates sharply after 2008, and 2014 drops off because the export only covers part of that year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almost certainly reflects a rising reporting rate, not a rising sighting rate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cameras crossed ~50% US penetration around 2012, and NUFORC's online form removed the friction of mailing in a report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 a reporting-behavior trend, not evidence of more UFO activity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California leads, but Washington is the real outlier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sighting counts by state (top 10)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91640"/>
          <a:ext cx="57607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Sightings per 100k residents (2010 pop.)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09360" y="1691640"/>
          <a:ext cx="53949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48463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(8,912), TX (3,447), NY (2,980) and FL (3,835) are also 4 of the 5 most populous US states — raw counts largely track population.  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breaks the pattern: only the 13th most populous state, yet #2 in raw sightings and #1 by a wide margin once normalized (~59 per 100k — 2.5x California's rate). Likely explanation: WA has a strong regional UFO culture dating to Kenneth Arnold's 1947 sighting near Mt. Rainier, which coined the term “flying saucer.”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“duration” ready to analyze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5146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 corrupted rows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718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like "2`", "8`" and "0.5`" had a stray backtick — stripped and re-parsed as numbers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25146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numeric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29718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"duration (seconds)" was stored as text; cast the full column to numeric (float)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764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5146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extreme outliers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9718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max was ~97.8M seconds (~3 years!) vs. a median of just 180 seconds — capped at 3,600s (60 min) for analysis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96112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62288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622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62288" y="25146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into minute buckets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62288" y="29718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values converted to minutes and grouped into 10 bins from 0 to 60 minutes for the histogram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E5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sec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raw duration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42519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9184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E5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97.8M sec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raw duration (~3 yrs)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42519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2648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E5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612648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rows fixed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61120" y="42519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96112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E5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 sec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896112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applied (60 min)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sightings are brief — a third last under 2 minutes</a:t>
            </a:r>
            <a:endParaRPr lang="en-US" sz="2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66751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463040"/>
            <a:ext cx="4297680" cy="3520440"/>
          </a:xfrm>
          <a:prstGeom prst="roundRect">
            <a:avLst>
              <a:gd name="adj" fmla="val 2078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makes sense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1031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capping at 60 minutes, ~46% of sightings last 5 minutes or less, and the single largest bucket is under 1 minute (29,453 reports)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bump appears at 45-60 minutes (5,544) — largely an artifact of capping every longer outlier at exactly 60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Sightings cluster at round numbers people would say out loud (1, 2, 5, 10, 15, 30, 60 min) — a sign witnesses are estimating from memory, not timing the event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memory-reporting artifact, not evidence that sightings genuinely cluster at those exact lengths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Witness comments reveal a self-correcting dataset</a:t>
            </a:r>
            <a:endParaRPr lang="en-US" sz="2400" dirty="0"/>
          </a:p>
        </p:txBody>
      </p:sp>
      <p:pic>
        <p:nvPicPr>
          <p:cNvPr id="5" name="Image 0" descr="asset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675120" cy="3310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8280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mentions of shape/self-debunk terms in comments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06640" y="1463040"/>
            <a:ext cx="4297680" cy="3657600"/>
          </a:xfrm>
          <a:prstGeom prst="roundRect">
            <a:avLst>
              <a:gd name="adj" fmla="val 2000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keyword counts (80,332 comments)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057400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"star"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205740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4,944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340864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"fireball"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234086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2624328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"NUFORC" (editor notes)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0" y="262432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2,593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2907792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"plane"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424160" y="290779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3191256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"meteor"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424160" y="319125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707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3474720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"hoax"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424160" y="347472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3758184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"satellite"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424160" y="375818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0" y="4041648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"video"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424160" y="404164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4325112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"photo"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424160" y="432511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680960" y="4608576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"military"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424160" y="460857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8920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D6E2F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029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Mundane explanations show up constantly in witnesses' own words: “star” and “fireball” each appear in thousands of comments, often as the witness's own guess at what they actually saw.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~1% of comments mention photo or video evidence, and ~3.2% directly reference “NUFORC” — meaning editorial notes are embedded in the witness-text field itself. Treat this as a raw, self-annotating tip log, not a vetted “confirmed UFO” list.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triangle, and circle are the most-reported shapes — ambiguity drives “light” to the top (~21% of records)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0E5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sightings rose 2.7x from 2000-2012, most likely from easier reporting (smartphones, online forms), not more UFOs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089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and Washington lead US reports — mostly population, but WA over-indexes ~2.5x on local UFO culture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0E5D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776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data needed real cleaning (3 corrupted rows, 60-min outlier cap) before use; once capped, ~46% of sightings last 5 minutes or less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46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show the dataset self-debunks often ("star", "fireball", "plane") and rarely includes photo/video evidence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0881360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normalize all state comparisons per-capita by default, and apply NLP topic modeling to comments for deeper theme extraction.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UFO Sightings Analysis  |  NUFORC Dataset, 1949–2014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1236</Words>
  <Application>Microsoft Office PowerPoint</Application>
  <PresentationFormat>Widescreen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 KM</cp:lastModifiedBy>
  <cp:revision>1</cp:revision>
  <dcterms:created xsi:type="dcterms:W3CDTF">2026-09-04T09:08:30Z</dcterms:created>
  <dcterms:modified xsi:type="dcterms:W3CDTF">2026-09-04T09:15:48Z</dcterms:modified>
</cp:coreProperties>
</file>